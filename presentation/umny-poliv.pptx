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секунд. Мы делаем умный полив для Нарына: норма воды по погоде и солнечный датчик влажности. Дальше — проблема, решение, схема, затем живой дашборд.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Сейчас поливают на глаз. В пик это до 60 тысяч литров на гектар в день, даже после дождя. В Нарыне 250–400 миллиметров осадков в год, высота около 2050 метров, зимой ночью до минус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Считаем литры на квадратный метр: испарение ET0 умножаем на коэффициент культуры и вычитаем дождь. В теплице дождь не считаем, испарение умножаем на 1,15. Если минимум около нуля — предупреждаем. Берём среднее тех же дат за пять лет архива, это не замер с поля.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секунд. Датчик питается от солнца: панель, зарядка TP4056, аккумулятор, ESP32. Три провода влажности. На дашборд по Wi-Fi раз в 15 минут. Сейчас откройте дашборд. После демо вернитесь к этой презентации и перейдите на последний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секунд, после демо. Полив перестаёт быть одним графиком на все дни. Видно, когда вода не нужна и когда укрывать грядку. Влажность на графике — демонстрация, не замер с поля. Спасибо.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D7EA3"/>
                </a:solidFill>
                <a:latin typeface="Liberation Sans"/>
                <a:cs typeface="Liberation Sans"/>
                <a:ea typeface="Liberation Sans"/>
              </a:rPr>
              <a:t>water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60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Умный полив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>
                <a:solidFill>
                  <a:srgbClr val="C4842A"/>
                </a:solidFill>
                <a:latin typeface="Liberation Sans"/>
                <a:cs typeface="Liberation Sans"/>
                <a:ea typeface="Liberation Sans"/>
              </a:rPr>
              <a:t>для грядок Нарына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>
                <a:solidFill>
                  <a:srgbClr val="3D6B56"/>
                </a:solidFill>
                <a:latin typeface="Liberation Sans"/>
                <a:cs typeface="Liberation Sans"/>
                <a:ea typeface="Liberation Sans"/>
              </a:rPr>
              <a:t>Норма воды по погоде и культуре. Солнечный датчик влажности шлёт данные на этот экран.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93776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1:20 рассказ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937760"/>
            <a:ext cx="30175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1:20 демо дашборда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937760"/>
            <a:ext cx="21945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0:20 вывод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5D7F6C"/>
                </a:solidFill>
                <a:latin typeface="Liberation Sans"/>
                <a:cs typeface="Liberation Sans"/>
                <a:ea typeface="Liberation San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300" b="0">
                <a:solidFill>
                  <a:srgbClr val="5D7F6C"/>
                </a:solidFill>
                <a:latin typeface="Liberation Sans"/>
                <a:cs typeface="Liberation Sans"/>
                <a:ea typeface="Liberation Sans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D7EA3"/>
                </a:solidFill>
                <a:latin typeface="Liberation Sans"/>
                <a:cs typeface="Liberation Sans"/>
                <a:ea typeface="Liberation Sans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Полив на глаз тратит воду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2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60 000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14884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литров на гектар в день
в пиковый сезон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~2050 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931920"/>
            <a:ext cx="379476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250–400 мм осадков в год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931920"/>
            <a:ext cx="246888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дожди май–июнь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384048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зимой ночью до −20 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5D7F6C"/>
                </a:solidFill>
                <a:latin typeface="Liberation Sans"/>
                <a:cs typeface="Liberation Sans"/>
                <a:ea typeface="Liberation Sans"/>
              </a:rPr>
              <a:t>Традиционный пик: 6 л/м² = 60 000 л/га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300" b="0">
                <a:solidFill>
                  <a:srgbClr val="5D7F6C"/>
                </a:solidFill>
                <a:latin typeface="Liberation Sans"/>
                <a:cs typeface="Liberation Sans"/>
                <a:ea typeface="Liberation Sans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D7EA3"/>
                </a:solidFill>
                <a:latin typeface="Liberation Sans"/>
                <a:cs typeface="Liberation Sans"/>
                <a:ea typeface="Liberation Sans"/>
              </a:rPr>
              <a:t>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Сколько литров нужно сегодня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868680"/>
          </a:xfrm>
          <a:prstGeom prst="roundRect">
            <a:avLst>
              <a:gd name="adj" fmla="val 20000"/>
            </a:avLst>
          </a:prstGeom>
          <a:solidFill>
            <a:srgbClr val="FFE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26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литры = ET₀ × Kc − дождь, но не меньше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3474720" cy="3108960"/>
          </a:xfrm>
          <a:prstGeom prst="roundRect">
            <a:avLst>
              <a:gd name="adj" fmla="val 20000"/>
            </a:avLst>
          </a:prstGeom>
          <a:solidFill>
            <a:srgbClr val="FFE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/>
            <a:r>
              <a:rPr sz="22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Культура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У картофеля, лука и помидора разные коэффициенты Kc.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743200"/>
            <a:ext cx="3474720" cy="3108960"/>
          </a:xfrm>
          <a:prstGeom prst="roundRect">
            <a:avLst>
              <a:gd name="adj" fmla="val 20000"/>
            </a:avLst>
          </a:prstGeom>
          <a:solidFill>
            <a:srgbClr val="D7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/>
            <a:r>
              <a:rPr sz="22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Теплица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Дождь не считаем. Испарение умножаем на 1,15.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743200"/>
            <a:ext cx="3474720" cy="3108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/>
            <a:r>
              <a:rPr sz="22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Заморозок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Если минимум ≤ 0 °C, на календаре метка и короткий совет.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5D7F6C"/>
                </a:solidFill>
                <a:latin typeface="Liberation Sans"/>
                <a:cs typeface="Liberation Sans"/>
                <a:ea typeface="Liberation Sans"/>
              </a:rPr>
              <a:t>Архив Open-Meteo, те же даты за 5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300" b="0">
                <a:solidFill>
                  <a:srgbClr val="5D7F6C"/>
                </a:solidFill>
                <a:latin typeface="Liberation Sans"/>
                <a:cs typeface="Liberation Sans"/>
                <a:ea typeface="Liberation Sans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heme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D7EA3"/>
                </a:solidFill>
                <a:latin typeface="Liberation Sans"/>
                <a:cs typeface="Liberation Sans"/>
                <a:ea typeface="Liberation Sans"/>
              </a:rPr>
              <a:t>ПОСЛЕ ДЕМО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6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Что показывает экран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760720" cy="1965960"/>
          </a:xfrm>
          <a:prstGeom prst="roundRect">
            <a:avLst>
              <a:gd name="adj" fmla="val 20000"/>
            </a:avLst>
          </a:prstGeom>
          <a:solidFill>
            <a:srgbClr val="FFE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/>
            <a:r>
              <a:rPr sz="22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Не лить после дождя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Если дождь уже закрыл испарение, полив в этот день не нужен.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49039"/>
            <a:ext cx="5760720" cy="1965960"/>
          </a:xfrm>
          <a:prstGeom prst="roundRect">
            <a:avLst>
              <a:gd name="adj" fmla="val 20000"/>
            </a:avLst>
          </a:prstGeom>
          <a:solidFill>
            <a:srgbClr val="D7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/>
            <a:r>
              <a:rPr sz="22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Увидеть холодную ночь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Календарь отмечает дни, где минимум опускается до 0 °C.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00200"/>
            <a:ext cx="4892040" cy="4114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/>
            <a:r>
              <a:rPr sz="2200" b="1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Сравнить с пиком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База — 60 000 л/га в день. Процент на экране считается для этой недели, это не полевой замер.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F4D38"/>
                </a:solidFill>
                <a:latin typeface="Liberation Sans"/>
                <a:cs typeface="Liberation Sans"/>
                <a:ea typeface="Liberation Sans"/>
              </a:rPr>
              <a:t>График влажности подписан «демо-данные»: так будет выглядеть сигнал раз в 15 минут.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5D7F6C"/>
                </a:solidFill>
                <a:latin typeface="Liberation Sans"/>
                <a:cs typeface="Liberation Sans"/>
                <a:ea typeface="Liberation Sans"/>
              </a:rPr>
              <a:t>Спасибо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300" b="0">
                <a:solidFill>
                  <a:srgbClr val="5D7F6C"/>
                </a:solidFill>
                <a:latin typeface="Liberation Sans"/>
                <a:cs typeface="Liberation Sans"/>
                <a:ea typeface="Liberation Sans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Умный полив для Нарына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